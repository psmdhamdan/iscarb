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S1: 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Can You Edit One Letter Out of 3 Billion?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114300" cy="109728"/>
          </a:xfrm>
          <a:prstGeom prst="roundRect">
            <a:avLst>
              <a:gd name="adj" fmla="val 41667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1/20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916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THE CLINICAL CHALLENGE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A human cell contains 3,000,000,000 base pairs of DNA. A single point mutation in a vital gene causes fatal genetic pathology.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If our molecular scissors make even one off-target cut elsewhere, the patient could develop leukemia or severe genomic instability.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How can a molecular system achieve 1-in-3-billion targeting precision?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4206240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0B132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34340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GENOME SCALE VISUAL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46177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3,000,000,000 bp Genome  →  1 Specific 20-bp Target Window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50292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Required Specificity: 99.999999% Target Discrimination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6916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PREDICTION QUESTION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20116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To cut ONLY this designated sequence, which component should provide the sequence targeting specificity?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834640"/>
            <a:ext cx="4663440" cy="530352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834640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A. The protein enzyme alone (protein-DNA contact)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3493008"/>
            <a:ext cx="4663440" cy="530352"/>
          </a:xfrm>
          <a:prstGeom prst="roundRect">
            <a:avLst>
              <a:gd name="adj" fmla="val 13793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493008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F3D0"/>
                </a:solidFill>
              </a:rPr>
              <a:t>B. A complementary 20-nt guide RNA sequence (gRNA)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4151376"/>
            <a:ext cx="4663440" cy="530352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4151376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C. Non-specific electrostatic attraction to phosphate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4809744"/>
            <a:ext cx="4663440" cy="530352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809744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D. The lipid nanoparticle carrier shell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OPENING PREDICTION:  Predict which molecular component provides 100% addressable sequence specificity.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0F7B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S2: DOMAIN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The 6 Pillars of CRISPR Genome Engineering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228600" cy="109728"/>
          </a:xfrm>
          <a:prstGeom prst="roundRect">
            <a:avLst>
              <a:gd name="adj" fmla="val 41667"/>
            </a:avLst>
          </a:prstGeom>
          <a:solidFill>
            <a:srgbClr val="0F7B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2/20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91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8A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RNP Complex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Cas9 nuclease + synthetic guide RNA assembly.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50876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691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8A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PAM Recognition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1488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5'-NGG-3' binding and DNA duplex unwinding.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150876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691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8A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Target Cleavage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38160" y="21488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Dual nuclease cut 3 bp upstream of PAM.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6576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840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8A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3736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Cellular Repair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2976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NHEJ gene knockout vs HDR precision knock-in.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6576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3840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8A"/>
                </a:solidFill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Off-Target Control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6280" y="42976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HiFi Cas9, Nickases &amp; dCas9 specificity tools.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55280" y="36576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3840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8A"/>
                </a:solidFill>
              </a:rPr>
              <a:t>06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6112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Clinical Delivery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38160" y="42976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RNP electroporation, viral vectors, and lipid nanoparticles.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ORIENTATION:  Review the conceptual map: each pillar connects to our central problem of single-base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S3: LEARNING OBJECTIVES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Official Course Learning Outcomes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342900" cy="109728"/>
          </a:xfrm>
          <a:prstGeom prst="roundRect">
            <a:avLst>
              <a:gd name="adj" fmla="val 41667"/>
            </a:avLst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3/20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73736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4C1D9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7373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D6FE"/>
                </a:solidFill>
              </a:rPr>
              <a:t>CLO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73736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Explain the biochemical mechanism of CRISPR-Cas9 targeted double-strand break formation.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60604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7889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4C1D9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7889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D6FE"/>
                </a:solidFill>
              </a:rPr>
              <a:t>CLO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78892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Design guide RNA spacers and identify appropriate PAM motifs for gene knockout vs gene insertion.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8404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4C1D95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840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D6FE"/>
                </a:solidFill>
              </a:rPr>
              <a:t>CLO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84048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Compare cellular DNA repair pathways (NHEJ vs HDR) and predict editing outcomes.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489204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4C1D95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892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D6FE"/>
                </a:solidFill>
              </a:rPr>
              <a:t>CLO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489204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Evaluate experimental strategies to minimize off-target cleavage and verify editing accuracy.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CLO ALIGNMENT:  Self-Audit: Identify which CLO directly addresses your experimental or clinical research goals.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S4: PRIOR KNOWLEDGE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Prerequisites: DNA Repair &amp; Endonucleases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457200" cy="109728"/>
          </a:xfrm>
          <a:prstGeom prst="roundRect">
            <a:avLst>
              <a:gd name="adj" fmla="val 41667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4/20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916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FOUNDATIONAL CONCEPTS REVIEW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1. Watson-Crick Hybridization: Adenine pairs with Thymine/Uracil; Guanine pairs with Cytosine.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2. Endonuclease Cleavage: Phosphodiester bonds are hydrolyzed on both strands to create Double-Strand Breaks (DSBs).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3. Unrepaired DSBs trigger cellular apoptosis. Cells must resolve DSBs immediately to survive.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916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DIAGNOSTIC CHECK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What happens if a cell suffers a double-strand break and attempts repair without a homologous template?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2926080"/>
            <a:ext cx="4663440" cy="530352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926080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A. The cell accurately replaces the missing bases using RNA.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3584448"/>
            <a:ext cx="4663440" cy="530352"/>
          </a:xfrm>
          <a:prstGeom prst="roundRect">
            <a:avLst>
              <a:gd name="adj" fmla="val 13793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584448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F3D0"/>
                </a:solidFill>
              </a:rPr>
              <a:t>B. Non-Homologous End Joining (NHEJ) directly joins broken ends, often inserting or deleting random bases (indels).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4242816"/>
            <a:ext cx="4663440" cy="530352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4242816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C. The DNA immediately dissolves and the cell becomes immortal.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4901184"/>
            <a:ext cx="4663440" cy="530352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901184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D. The cell pauses indefinitely without attempting repair.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DIAGNOSTIC:  Recall: NHEJ is the cell's emergency repair pathway — it creates random indels.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0F7B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S5: CORE CONCEPT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The Ribonucleoprotein (RNP) Machine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571500" cy="109728"/>
          </a:xfrm>
          <a:prstGeom prst="roundRect">
            <a:avLst>
              <a:gd name="adj" fmla="val 41667"/>
            </a:avLst>
          </a:prstGeom>
          <a:solidFill>
            <a:srgbClr val="0F7B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5/20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9050">
            <a:solidFill>
              <a:srgbClr val="0F7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45920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WHAT IS AN RNP?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An RNP is a stable, pre-assembled complex containing the Cas9 endonuclease protein bound to a synthetic single guide RNA (sgRNA). It delivers immediate, transient editing activity with zero risk of viral genome integration.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788920"/>
            <a:ext cx="3108960" cy="320040"/>
          </a:xfrm>
          <a:prstGeom prst="roundRect">
            <a:avLst>
              <a:gd name="adj" fmla="val 22857"/>
            </a:avLst>
          </a:prstGeom>
          <a:solidFill>
            <a:srgbClr val="04785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88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crRNA (CRISPR RNA)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20-nt variable spacer that matches the target genomic DNA protospacer.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260604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2788920"/>
            <a:ext cx="3108960" cy="320040"/>
          </a:xfrm>
          <a:prstGeom prst="roundRect">
            <a:avLst>
              <a:gd name="adj" fmla="val 22857"/>
            </a:avLst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2788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tracrRNA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2918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Structural RNA scaffold that binds Cas9 protein and forms the active hairpin loop.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260604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788920"/>
            <a:ext cx="3108960" cy="320040"/>
          </a:xfrm>
          <a:prstGeom prst="roundRect">
            <a:avLst>
              <a:gd name="adj" fmla="val 22857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2788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Cas9 Protein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38160" y="32918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Dual-lobe endonuclease containing RuvC (non-target) and HNH (target) nuclease domains.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MENTAL MODEL:  Observe: crRNA provides sequence address; tracrRNA provides structural docking; Cas9 cuts.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0F7B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S6: MECHANISM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PAM (5'-NGG-3') Binding &amp; DNA Unwinding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685800" cy="109728"/>
          </a:xfrm>
          <a:prstGeom prst="roundRect">
            <a:avLst>
              <a:gd name="adj" fmla="val 41667"/>
            </a:avLst>
          </a:prstGeom>
          <a:solidFill>
            <a:srgbClr val="0F7B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6/20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2468880" cy="425196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916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1. 3D Scanning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Diffusion &amp; Collision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21031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Cas9 rapidly diffuses along the chromosome, testing for PAM motifs rather than reading every base.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508760"/>
            <a:ext cx="2468880" cy="425196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6916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2. PAM Engagement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1965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5'-NGG-3' Latching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2514600"/>
            <a:ext cx="21031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The C-terminal domain of Cas9 binds the PAM on the non-target DNA strand with high affinity.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2468880" cy="425196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6916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3. Strand Invasion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R-Loop Formation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514600"/>
            <a:ext cx="21031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PAM binding triggers local DNA melting immediately upstream, allowing the 20-nt gRNA to base-pair.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508760"/>
            <a:ext cx="2468880" cy="425196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16916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4. Allosteric Trigger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0" y="1965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Nuclease Activation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0" y="2514600"/>
            <a:ext cx="21031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Full 20-bp complementarity causes a conformational shift, positioning catalytic residues for cleavage.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MECHANISM:  Crucial Rule: Cleavage CANNOT occur without an adjacent 5'-NGG-3' PAM motif on the non-target strand.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S7: MISCONCEPTION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Why Assuming 'Any 20-bp Sequence Can Be Cut' Fails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800100" cy="109728"/>
          </a:xfrm>
          <a:prstGeom prst="roundRect">
            <a:avLst>
              <a:gd name="adj" fmla="val 41667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7/20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3B1111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916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A5A5"/>
                </a:solidFill>
              </a:rPr>
              <a:t>THE COMMON MISCONCEPTION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ECACA"/>
                </a:solidFill>
              </a:rPr>
              <a:t>❌ 'I can pick any 20-base sequence in a disease gene and design a guide RNA to cut it.'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EE2E2"/>
                </a:solidFill>
              </a:rPr>
              <a:t>Why it seems reasonable: Guide RNAs are synthesized to match any 20 nucleotides.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EE2E2"/>
                </a:solidFill>
              </a:rPr>
              <a:t>Why it fails: SpCas9 cannot unwind DNA without an immediate 3' PAM (5'-NGG-3'). If the PAM is missing, Cas9 will never open the double helix, and zero cutting occurs.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916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</a:rPr>
              <a:t>THE CORRECT MENTAL MODEL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0116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F3D0"/>
                </a:solidFill>
              </a:rPr>
              <a:t>✓ 'PAM Search First, Spacer Alignment Second.'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83464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1FAE5"/>
                </a:solidFill>
              </a:rPr>
              <a:t>1. Find all 5'-NGG-3' motifs in your target region.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1FAE5"/>
                </a:solidFill>
              </a:rPr>
              <a:t>2. Select the 20 bases immediately 5' (upstream) of the NGG.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1FAE5"/>
                </a:solidFill>
              </a:rPr>
              <a:t>3. That 20-base window is your valid protospacer candidate.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1FAE5"/>
                </a:solidFill>
              </a:rPr>
              <a:t>4. Wild-type Cas9 will cut exactly 3 base pairs upstream of that NGG.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MISCONCEPTION CHECK:  Remember: No PAM = No DNA Unwinding = No Cleavage.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S8: WORKED EXAMPLE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Locating Cleavage Coordinates Step-by-Step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914400" cy="109728"/>
          </a:xfrm>
          <a:prstGeom prst="roundRect">
            <a:avLst>
              <a:gd name="adj" fmla="val 41667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8/20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698480" cy="42519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91640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STEP-BY-STEP CALCULATION &amp; SEQUENCE MAPPING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2057400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0B132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24028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STRAND: 5'- A T G C C G A T T A C G G A T C C G T T A T C C G G T A A -3'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017520"/>
            <a:ext cx="10149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Step 1: Identify PAM motif (5'-NGG-3') → Found at positions 28-30: 'C G G'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Step 2: Extract 20-nt Protospacer immediately upstream → 'T T A C G G A T C C G T T A T C C'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Step 3: Calculate Cleavage Coordinates → Cas9 cuts 3 bp upstream of PAM (between positions 24 and 25).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Result: Double-strand break generates blunt ends at locus 24^25.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WORKED EXAMPLE:  Formula: Cleavage site = (PAM start position - 3 bp) on both target and non-target strands.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S9: GUIDED PRACTICE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Solve: Where Does Cas9 Cut This Sequence?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1028700" cy="109728"/>
          </a:xfrm>
          <a:prstGeom prst="roundRect">
            <a:avLst>
              <a:gd name="adj" fmla="val 41667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9/20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698480" cy="42519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91640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PRACTICE PROBLEM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Given this non-target strand sequence with PAM highlighted: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5'- C T A G G C T A A T G C [ 20-nt SPACER ] T C A (T G G) A C T -3'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Where will the double-strand break occur?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3017520"/>
            <a:ext cx="1014984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01752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A. Inside the TGG PAM sequence — Incorrect: Cas9 does not cut inside the PAM.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3675888"/>
            <a:ext cx="10149840" cy="548640"/>
          </a:xfrm>
          <a:prstGeom prst="roundRect">
            <a:avLst>
              <a:gd name="adj" fmla="val 13333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675888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F3D0"/>
                </a:solidFill>
              </a:rPr>
              <a:t>B. Exactly 3 base pairs 5' of the TGG PAM (between spacer position 17 and 18) — CORRECT: Cleavage occurs 3 bp upstream of the PAM motif.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4334256"/>
            <a:ext cx="1014984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334256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C. 20 base pairs downstream of the PAM — Incorrect: Cleavage is upstream, not downstream.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4992624"/>
            <a:ext cx="1014984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992624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D. Randomly anywhere along the chromosome — Incorrect: Cas9 cuts deterministically 3 bp upstream.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GUIDED PRACTICE:  Verify: Identify PAM → Count 3 bases backwards → Mark the cleavage boundary.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S10: INDEPENDENT PRACTICE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Evaluate 4 Guide RNA Designs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1143000" cy="109728"/>
          </a:xfrm>
          <a:prstGeom prst="roundRect">
            <a:avLst>
              <a:gd name="adj" fmla="val 41667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10/20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916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Design 1: VALID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20-nt target followed by 5'-AGG-3'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Reasoning: AGG matches 5'-NGG-3' PAM rule.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5087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6916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</a:rPr>
              <a:t>Design 2: INVALID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201168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20-nt target followed by 5'-TGA-3'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25146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Reasoning: TGA lacks the double-G required by SpCas9.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404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Design 3: VALID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20-nt target followed by 5'-CGG-3'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66344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Reasoning: CGG is an authentic 5'-NGG-3' PAM.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6576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8404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</a:rPr>
              <a:t>Design 4: SUB-OPTIMAL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41605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15-nt target followed by 5'-GGG-3'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466344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Reasoning: 15-nt is truncated; requires 20-nt for stable R-loop.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INDEPENDENT AUDIT:  Task: In your research lab, reject any candidate guide lacking a validated 5'-NGG-3' PAM.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0F7B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S11: REPAIR PATHWAYS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Cellular Repair Branching: NHEJ vs HDR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1257300" cy="109728"/>
          </a:xfrm>
          <a:prstGeom prst="roundRect">
            <a:avLst>
              <a:gd name="adj" fmla="val 41667"/>
            </a:avLst>
          </a:prstGeom>
          <a:solidFill>
            <a:srgbClr val="0F7B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11/20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PATHWAY A: NHEJ (Non-Homologous End Joining)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Timing: Active throughout all cell cycle phases (G1, S, G2).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Mechanism: Ku70/Ku80 binds broken ends; DNA-PKcs ligates ends directly without a template.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Consequence: Error-prone. Introduces insertions and deletions (indels).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Educational Application: Used for GENE KNOCKOUT via frameshift nonsense mutations.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PATHWAY B: HDR (Homology-Directed Repair)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Timing: Active predominantly during late S and G2 phases when sister chromatids exist.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Mechanism: Rad51 coats single-stranded DNA overhangs and copies from a donor template.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Consequence: High fidelity. Precise sequence insertion, base editing, or gene tagging.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Educational Application: Used for GENE KNOCK-IN and point mutation correction.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PATHWAY CHOICE:  Decision: Want a gene destroyed? Rely on NHEJ. Want a mutation repaired? Supply a donor and induce HDR.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S12: TRADE-OFF MATRIX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Engineering Trade-Offs: NHEJ vs HDR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1371600" cy="109728"/>
          </a:xfrm>
          <a:prstGeom prst="roundRect">
            <a:avLst>
              <a:gd name="adj" fmla="val 41667"/>
            </a:avLst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12/20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91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Efficiency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1691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CACA"/>
                </a:solidFill>
              </a:rPr>
              <a:t>NHEJ: High (50–90% in somatic cells)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1691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</a:rPr>
              <a:t>HDR: Lower (1–20% without enrichment)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560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Template Requirement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560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CACA"/>
                </a:solidFill>
              </a:rPr>
              <a:t>NHEJ: None (Autonomous cellular repair)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2560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</a:rPr>
              <a:t>HDR: Mandatory (ssODN or plasmid donor)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429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Precision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3429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CACA"/>
                </a:solidFill>
              </a:rPr>
              <a:t>NHEJ: Variable indels (+1 to -30 bp)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3429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</a:rPr>
              <a:t>HDR: Single-base exact resolution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297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Cell Cycle State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4297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CACA"/>
                </a:solidFill>
              </a:rPr>
              <a:t>NHEJ: All phases (dividing &amp; post-mitotic)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297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</a:rPr>
              <a:t>HDR: Restricted to dividing cells (S/G2)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98348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166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Primary Use Case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49040" y="5166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CACA"/>
                </a:solidFill>
              </a:rPr>
              <a:t>NHEJ: Gene Knockout &amp; Functional Genomics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5166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</a:rPr>
              <a:t>HDR: Disease Correction &amp; Epitope Tagging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COMPARISON:  Trade-Off Analysis: HDR provides precision at the cost of lower frequency and cell-cycle dependence.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S13: 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Case Study: Sickle Cell Disease Point Mutation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1485900" cy="109728"/>
          </a:xfrm>
          <a:prstGeom prst="roundRect">
            <a:avLst>
              <a:gd name="adj" fmla="val 41667"/>
            </a:avLst>
          </a:prstGeom>
          <a:solidFill>
            <a:srgbClr val="EC489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13/20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916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2B6"/>
                </a:solidFill>
              </a:rPr>
              <a:t>CLINICAL GENETIC CONTEXT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Disease: Sickle Cell Disease affects millions worldwide.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Molecular Root: Single nucleotide substitution in codon 6 of HBB gene: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  Wild-Type (HbA): GAG (Glutamic acid)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  Sickle (HbS): GTG (Valine)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Clinical Problem: Hydrophobic Valine causes hemoglobin polymerization and red blood cell sickling under low oxygen.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916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CRISPR THERAPEUTIC STRATEGY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1. Target: Deliver Cas9 RNP targeting the HBB codon 6 locus in patient CD34+ hematopoietic stem cells.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2. Payload: Co-deliver single-stranded DNA oligonucleotide (ssODN) containing wild-type 'A' base.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3. Silent Mutation: Mutate the adjacent PAM sequence on the donor template so Cas9 will NOT re-cut the corrected allele.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4. Outcome: Permanent production of healthy adult hemoglobin.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CLINICAL CASE:  Critical Design Rule: Mutate the PAM on the HDR donor template to avoid endless re-cleavage of repaired DNA.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S14: GUIDED APPLICATION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Designing an HDR Donor Template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1600200" cy="109728"/>
          </a:xfrm>
          <a:prstGeom prst="roundRect">
            <a:avLst>
              <a:gd name="adj" fmla="val 41667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14/20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698480" cy="42519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91640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DONOR TEMPLATE ARCHITECTURE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210312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F3D0"/>
                </a:solidFill>
              </a:rPr>
              <a:t>Left Homology Arm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Length: 40–60 bp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31089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Matches genomic DNA upstream of DSB exactly.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210312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F3D0"/>
                </a:solidFill>
              </a:rPr>
              <a:t>Desired Point Edit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332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Length: 1 bp (T → A)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03320" y="31089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Contains the therapeutic wild-type nucleotide.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10312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F3D0"/>
                </a:solidFill>
              </a:rPr>
              <a:t>Silent PAM Block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Length: 1 bp (NGG → NGA)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31089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Destroys PAM without altering amino acid sequence.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86800" y="210312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23960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F3D0"/>
                </a:solidFill>
              </a:rPr>
              <a:t>Right Homology Arm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2396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Length: 40–60 bp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31089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Matches genomic DNA downstream of DSB.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DONOR PROTOCOL:  Protocol: Ensure total donor length is ~100–120 nt with the edit centered directly over the cut site.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S15: ENGINEERING VARIANTS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Selecting the Optimal Cas9 Variant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1714500" cy="109728"/>
          </a:xfrm>
          <a:prstGeom prst="roundRect">
            <a:avLst>
              <a:gd name="adj" fmla="val 41667"/>
            </a:avLst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15/20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916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Wild-Type SpCas9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Cut Type: Blunt DSB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Use Case: High-efficiency gene disruption (NHEJ).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Safety Profile: Moderate off-target risk.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5087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916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HiFi / eSpCas9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Cut Type: Blunt DSB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22860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Use Case: High-specificity editing with mutated contact residues.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28346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Safety Profile: Ultra-low off-target cleavage.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404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Cas9 Nickase (D10A)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1605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Cut Type: Single-Strand Nick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4348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Use Case: Dual paired nicking (offset gRNAs) to eliminate off-targets.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9834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Safety Profile: Requires 2 gRNAs simultaneously.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36576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8404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dCas9 (Catalytic Dead)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41605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Cut Type: No Cleavage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44348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Use Case: CRISPRa (activation), CRISPRi (repression), Base Editing.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49834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Safety Profile: Reversible transcriptional modulation.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VARIANT CHOICE:  Application: For human therapeutics, always select High-Fidelity Cas9 or paired Nickases to protect genomic integrity.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S16: DECISION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Evaluating Off-Target Cleavage Assays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1828800" cy="109728"/>
          </a:xfrm>
          <a:prstGeom prst="roundRect">
            <a:avLst>
              <a:gd name="adj" fmla="val 41667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16/20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698480" cy="42519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91640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DIAGNOSTIC DECISION SCENARIO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You edited 10,000,000 patient cells. Before re-infusing them, you must verify that zero off-target cleavage occurred across the entire genome. Which assay should you perform?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2743200"/>
            <a:ext cx="1014984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74320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A. Sanger Sequencing of target locus only — INSUFFICIENT: Only examines the on-target locus; completely blind to genome-wide off-target cuts.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05840" y="3456432"/>
            <a:ext cx="10149840" cy="594360"/>
          </a:xfrm>
          <a:prstGeom prst="roundRect">
            <a:avLst>
              <a:gd name="adj" fmla="val 12308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456432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F3D0"/>
                </a:solidFill>
              </a:rPr>
              <a:t>B. Whole-Genome Next-Generation Sequencing (NGS) + GUIDE-seq — CORRECT: Unbiased, genome-wide double-strand break profiling with deep sensitivity.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4169664"/>
            <a:ext cx="1014984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169664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C. Agarose Gel Electrophoresis — INSUFFICIENT: Lacks resolution to detect low-frequency 1-bp indel events.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4882896"/>
            <a:ext cx="1014984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882896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D. Optical Microscopy of cell morphology — INSUFFICIENT: Cannot detect molecular nucleotide changes.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DECISION CHALLENGE:  Clinical Standard: GUIDE-seq and deep targeted NGS are mandatory for regulatory IND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S17: TRANSFER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Complex Transfer: CAR-T Cell Multi-Gene Engineering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1943100" cy="109728"/>
          </a:xfrm>
          <a:prstGeom prst="roundRect">
            <a:avLst>
              <a:gd name="adj" fmla="val 41667"/>
            </a:avLst>
          </a:prstGeom>
          <a:solidFill>
            <a:srgbClr val="EC489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17/20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916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2B6"/>
                </a:solidFill>
              </a:rPr>
              <a:t>ALLOGENEIC CAR-T CELL SCENARIO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To create 'universal' off-the-shelf CAR-T cells from a healthy donor for multiple cancer patients, you must: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1. Knockout TRAC gene (prevents Graft-versus-Host Disease)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2. Knockout B2M gene (prevents host immune rejection)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3. Knockout PDCD1 gene (prevents tumor checkpoint exhaustion)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What is the optimal editing strategy?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916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CHALLENGE EVALUATION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Correct Design: Multiplex delivery of High-Fidelity Cas9 with 3 validated gRNAs targeting exon 1 of TRAC, B2M, and PDCD1 simultaneously.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Pathway Exploited: Rely on NHEJ (no donor template needed for simple gene disruption).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Risk Monitored: Chromosomal translocations between the 3 simultaneous double-strand breaks. Screen with karyotyping.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ADVANCED TRANSFER:  Transfer Insight: Multiplexing NHEJ enables simultaneous multi-gene disruption for immunotherapy.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S18: ASSESSMENT RUBRIC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Performance Rubric: CRISPR Competency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2057400" cy="109728"/>
          </a:xfrm>
          <a:prstGeom prst="roundRect">
            <a:avLst>
              <a:gd name="adj" fmla="val 41667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18/20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2560320" cy="42519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691640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Novice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2194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Defines Cas9 and gRNA conceptually; cannot identify PAM motifs on DNA.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1508760"/>
            <a:ext cx="2560320" cy="42519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1691640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Developing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2194560"/>
            <a:ext cx="2194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Locates PAM motifs; cannot differentiate between NHEJ and HDR repair outcomes.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560320" cy="42519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691640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1E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Proficient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194560"/>
            <a:ext cx="2194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Designs valid gRNA + ssODN templates; predicts cleavage sites and prevents re-cutting.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23960" y="1508760"/>
            <a:ext cx="2560320" cy="42519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1691640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04785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Distinguished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06840" y="2194560"/>
            <a:ext cx="2194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Designs multi-gene clinical protocols with off-target mitigation and assay validation.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MASTERY RUBRIC:  Self-Assessment: Target Level 3+ proficiency before progressing to the Final Readiness Gate.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S19: EVIDENCE TRIANGULATION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Triangulation: How Learning Is Proven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2171700" cy="109728"/>
          </a:xfrm>
          <a:prstGeom prst="roundRect">
            <a:avLst>
              <a:gd name="adj" fmla="val 41667"/>
            </a:avLst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19/20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9164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1. The Product (What You Produce)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A validated guide RNA spacer sequence + donor template sequence with annotated PAM coordinates.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0896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2. The Process (How You Work)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5204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Locating 5'-NGG-3' motifs, verifying zero secondary off-targets, and inserting silent PAM mutations.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34340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5262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3. The Explanation (How You Justify)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93776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Explaining why HDR is required for point corrections and defending Cas9 variant selection for safety.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EVIDENCE:  Evidence Standard: Mastery requires synthesis of sequence design, repair pathway choice, and safety justification.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S20: READINESS GATE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Final Mastery Gate: Therapeutic Protocol Certification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"/>
            <a:ext cx="2286000" cy="109728"/>
          </a:xfrm>
          <a:prstGeom prst="roundRect">
            <a:avLst>
              <a:gd name="adj" fmla="val 41667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548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20/20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698480" cy="42519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91640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INTEGRATED READINESS CHALLENGE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8FAFC"/>
                </a:solidFill>
              </a:rPr>
              <a:t>A clinical team presents a patient with a pathogenic single nucleotide transversion. They propose delivering Wild-Type Cas9 plasmid + guide RNA alone without a donor template, claiming this will correct the disease allele.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8FAFC"/>
                </a:solidFill>
              </a:rPr>
              <a:t>As lead molecular geneticist, what is your official evaluation?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3154680"/>
            <a:ext cx="10149840" cy="530352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154680"/>
            <a:ext cx="9784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A. Approve: Plasmid delivery ensures permanent expression and NHEJ will automatically fix the mutation.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05840" y="3776472"/>
            <a:ext cx="10149840" cy="530352"/>
          </a:xfrm>
          <a:prstGeom prst="roundRect">
            <a:avLst>
              <a:gd name="adj" fmla="val 13793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776472"/>
            <a:ext cx="9784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F3D0"/>
                </a:solidFill>
              </a:rPr>
              <a:t>B. REJECT: NHEJ will introduce random indels and destroy the gene; plasmid delivery poses insertional mutagenesis risks. Re-specify: High-Fidelity Cas9 RNP + ssODN donor with silent PAM mutation to direct HDR.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4398264"/>
            <a:ext cx="10149840" cy="530352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398264"/>
            <a:ext cx="9784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C. Approve: Cas9 will convert the single base without cutting the DNA backbone.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5020056"/>
            <a:ext cx="10149840" cy="530352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5020056"/>
            <a:ext cx="9784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D. Reject: CRISPR cannot be used in eukaryotic cells.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0B1E28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▶ MASTERY CERTIFIED:  Gate Passed: 20-Slide University Learning Journey Certified. Course Mastery Complete.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Comprehensive 20-Slide University Lecture — CRISPR Genome Editing</dc:subject>
  <dc:creator>iSCARB Faculty AI Co-Pilot</dc:creator>
  <cp:lastModifiedBy>iSCARB Faculty AI Co-Pilot</cp:lastModifiedBy>
  <cp:revision>1</cp:revision>
  <dcterms:created xsi:type="dcterms:W3CDTF">2026-08-15T18:26:54Z</dcterms:created>
  <dcterms:modified xsi:type="dcterms:W3CDTF">2026-08-15T18:26:54Z</dcterms:modified>
</cp:coreProperties>
</file>