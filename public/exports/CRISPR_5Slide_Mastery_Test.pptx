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1: 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Can You Edit One Letter Out of 3 Billion?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120640" cy="438912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B8A"/>
                </a:solidFill>
              </a:rPr>
              <a:t>THE SCENARIO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8FAFC"/>
                </a:solidFill>
              </a:rPr>
              <a:t>A patient carries a single point mutation in a critical gene among 3,000,000,000 DNA base pairs. A single off-target cut in another gene could cause cancer.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8FAFC"/>
                </a:solidFill>
              </a:rPr>
              <a:t>You must deploy a molecular tool that cuts ONLY this precise 20-base sequence and nowhere else.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4206240"/>
            <a:ext cx="4572000" cy="1554480"/>
          </a:xfrm>
          <a:prstGeom prst="roundRect">
            <a:avLst>
              <a:gd name="adj" fmla="val 5882"/>
            </a:avLst>
          </a:prstGeom>
          <a:solidFill>
            <a:srgbClr val="0B132B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42976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GENOMIC SCALE: 3,000,000,000 Base Pairs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" y="46634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...A T C G G C T A [ T A R G E T : 2 0 b p ] G C C T A G G...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52120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Targeting accuracy required: 99.999999% sequence specificity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1645920"/>
            <a:ext cx="5212080" cy="438912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8288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PREDICT &amp; REASON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21945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To make a molecular tool cut ONLY this target sequence, which component should provide the targeting specificity?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92240" y="3108960"/>
            <a:ext cx="4663440" cy="54864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31089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A. The cutting enzyme itself (Cas9 protein alone)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92240" y="3794760"/>
            <a:ext cx="4663440" cy="548640"/>
          </a:xfrm>
          <a:prstGeom prst="roundRect">
            <a:avLst>
              <a:gd name="adj" fmla="val 13333"/>
            </a:avLst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37947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F3D0"/>
                </a:solidFill>
              </a:rPr>
              <a:t>B. A complementary RNA guide sequence (gRNA)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92240" y="4480560"/>
            <a:ext cx="4663440" cy="54864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44805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C. The general DNA sugar-phosphate backbone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92240" y="5166360"/>
            <a:ext cx="4663440" cy="54864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51663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D. The delivery nanoparticle shell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0F7B8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2: MENTAL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The CRISPR-Cas9 Ribonucleoprotein (RNP) Model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069848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CORE PRINCIPLE: Targeting and cutting are decoupled into two specialized partners.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The Guide RNA finds the address via Watson-Crick base pairing; the Cas9 enzyme acts as the molecular scissors.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560320"/>
            <a:ext cx="2468880" cy="292608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74320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047857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7432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ADDRESS FINDER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31546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1. 20-nt Guide RNA (gRNA)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749040"/>
            <a:ext cx="2103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Matches the target genomic protospacer sequence exactly (A-U, G-C)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0" y="2560320"/>
            <a:ext cx="2468880" cy="292608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274320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1D4ED8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27432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MOLECULAR SCISSORS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0" y="31546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2. Cas9 Endonuclease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3749040"/>
            <a:ext cx="2103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Clamps DNA and carries RuvC &amp; HNH cleavage domains to cut both strands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2560320"/>
            <a:ext cx="2468880" cy="292608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274320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27432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SAFETY LATCH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0" y="31546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3. PAM Motif (5'-NGG-3')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3749040"/>
            <a:ext cx="2103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Physical binding latch on non-target DNA required for Cas9 to unwind DNA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961120" y="2560320"/>
            <a:ext cx="2468880" cy="292608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0" y="274320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475569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0" y="27432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TARGET LOCUS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144000" y="31546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4. Target DNA Duplex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0" y="3749040"/>
            <a:ext cx="2103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Unwinds 3-4 bp upstream of PAM to allow RNA-DNA hybrid formation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5669280"/>
            <a:ext cx="10698480" cy="640080"/>
          </a:xfrm>
          <a:prstGeom prst="roundRect">
            <a:avLst>
              <a:gd name="adj" fmla="val 14286"/>
            </a:avLst>
          </a:prstGeom>
          <a:solidFill>
            <a:srgbClr val="032B2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F3D0"/>
                </a:solidFill>
              </a:rPr>
              <a:t>KEY RELATIONSHIP:  Targeting Specificity (gRNA)  +  Physical Latch (PAM)  =  Precise Double-Strand Break (DSB)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3: THE MECHANISM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Step-by-Step Molecular Cleavage &amp; Cellular Repair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2468880" cy="384048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</a:rPr>
              <a:t>STEP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PAM Binding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Cas9 scans DNA and latches onto the 5'-NGG-3' PAM motif.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4023360"/>
            <a:ext cx="2194560" cy="1280160"/>
          </a:xfrm>
          <a:prstGeom prst="roundRect">
            <a:avLst>
              <a:gd name="adj" fmla="val 714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41148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38BDF8"/>
                </a:solidFill>
              </a:rPr>
              <a:t>Why: Unwinds adjacent DNA duplex to test guide complementarity.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1645920"/>
            <a:ext cx="2468880" cy="384048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828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</a:rPr>
              <a:t>STEP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2148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gRNA Hybridization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0" y="260604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The 20-nt guide RNA spacer forms Watson-Crick base pairs with target strand.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11880" y="4023360"/>
            <a:ext cx="2194560" cy="1280160"/>
          </a:xfrm>
          <a:prstGeom prst="roundRect">
            <a:avLst>
              <a:gd name="adj" fmla="val 714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03320" y="41148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38BDF8"/>
                </a:solidFill>
              </a:rPr>
              <a:t>Why: Ensures cleavage occurs only at the designated 20-bp locus.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645920"/>
            <a:ext cx="2468880" cy="384048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828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</a:rPr>
              <a:t>STEP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2148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Double-Strand Cut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260604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RuvC and HNH nuclease domains cut both DNA strands 3 bp upstream of PAM.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55080" y="4023360"/>
            <a:ext cx="2194560" cy="1280160"/>
          </a:xfrm>
          <a:prstGeom prst="roundRect">
            <a:avLst>
              <a:gd name="adj" fmla="val 714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41148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38BDF8"/>
                </a:solidFill>
              </a:rPr>
              <a:t>Why: Generates a clean, blunt double-stranded break (DSB).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961120" y="1645920"/>
            <a:ext cx="2468880" cy="384048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0" y="1828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</a:rPr>
              <a:t>STEP 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0" y="2148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Repair Pathway Choice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0" y="260604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Cell repair machinery resolves the DSB via NHEJ (Knockout) or HDR (Knock-in).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098280" y="4023360"/>
            <a:ext cx="2194560" cy="1280160"/>
          </a:xfrm>
          <a:prstGeom prst="roundRect">
            <a:avLst>
              <a:gd name="adj" fmla="val 714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89720" y="41148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38BDF8"/>
                </a:solidFill>
              </a:rPr>
              <a:t>Why: NHEJ introduces random indels; HDR incorporates precise edits.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5669280"/>
            <a:ext cx="5212080" cy="640080"/>
          </a:xfrm>
          <a:prstGeom prst="roundRect">
            <a:avLst>
              <a:gd name="adj" fmla="val 14286"/>
            </a:avLst>
          </a:prstGeom>
          <a:solidFill>
            <a:srgbClr val="7F1D1D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7607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ECACA"/>
                </a:solidFill>
              </a:rPr>
              <a:t>OUTCOME A: NHEJ (No Template) → Random Indel → Frameshift Gene Knockout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5669280"/>
            <a:ext cx="5212080" cy="640080"/>
          </a:xfrm>
          <a:prstGeom prst="roundRect">
            <a:avLst>
              <a:gd name="adj" fmla="val 14286"/>
            </a:avLst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57607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F3D0"/>
                </a:solidFill>
              </a:rPr>
              <a:t>OUTCOME B: HDR (+ Donor Template) → Precise Sequence Replacement (Knock-in)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4: PRACTICE &amp; DIAGNOSIS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Diagnosing an Experimental Failure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0698480" cy="100584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83080"/>
            <a:ext cx="10149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LAB EXPERIMENT: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A researcher designs a 20-nt guide RNA that matches a target exon with 100% sequence identity. They deliver Cas9 + gRNA to cell culture. After 48 hours, sequencing shows ZERO cutting at the locus. What is the most probable molecular cause?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5257800" cy="1508760"/>
          </a:xfrm>
          <a:prstGeom prst="roundRect">
            <a:avLst>
              <a:gd name="adj" fmla="val 7273"/>
            </a:avLst>
          </a:prstGeom>
          <a:solidFill>
            <a:srgbClr val="064E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7180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F3D0"/>
                </a:solidFill>
              </a:rPr>
              <a:t>A. The target sequence lacked an adjacent 5'-NGG-3' PAM motif.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47472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6EE7B7"/>
                </a:solidFill>
              </a:rPr>
              <a:t>CORRECT: Without PAM, Cas9 cannot unwind DNA to allow guide RNA binding, preventing cleavage entirely.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72200" y="2834640"/>
            <a:ext cx="5257800" cy="150876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297180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B. Cas9 degraded the target DNA without needing guide RNA.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55080" y="347472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94A3B8"/>
                </a:solidFill>
              </a:rPr>
              <a:t>MISCONCEPTION: Cas9 is inactive without guide RNA and cannot cut DNA non-specifically.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4480560"/>
            <a:ext cx="5257800" cy="150876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61772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C. Cellular HDR repaired the break without leaving any trace.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512064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94A3B8"/>
                </a:solidFill>
              </a:rPr>
              <a:t>MISCONCEPTION: In the absence of a donor template, HDR does not occur; NHEJ would leave indels.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72200" y="4480560"/>
            <a:ext cx="5257800" cy="150876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461772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D. 20 nucleotides is too long for Watson-Crick base pairing.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512064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94A3B8"/>
                </a:solidFill>
              </a:rPr>
              <a:t>MISCONCEPTION: 20-nt is the standard physiological spacer length for SpCas9 targeting.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EC489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5: CLINICAL TRANSFER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Transfer Challenge: Sickle Cell Mutation Correction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120640" cy="438912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</a:rPr>
              <a:t>NOVEL CLINICAL CHALLENGE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Sickle Cell Disease is caused by a single A→T mutation in codon 6 of the HBB gene. You must revert this T back to A to restore normal hemoglobin production without introducing destructive frameshift mutations.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" y="3566160"/>
            <a:ext cx="4572000" cy="2194560"/>
          </a:xfrm>
          <a:prstGeom prst="roundRect">
            <a:avLst>
              <a:gd name="adj" fmla="val 4167"/>
            </a:avLst>
          </a:prstGeom>
          <a:solidFill>
            <a:srgbClr val="0B132B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70332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STRATEGY COMPARISON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40233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</a:rPr>
              <a:t>• Strategy 1 (NHEJ): Causes indels → Destroys HBB protein (Knockout)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452628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</a:rPr>
              <a:t>• Strategy 2 (HDR + ssODN): Uses synthetic single-stranded DNA donor containing wild-type 'A' sequence → Precise Base Repair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52578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3C5FD"/>
                </a:solidFill>
              </a:rPr>
              <a:t>Conclusion: Single-base correction strictly requires template-directed HDR.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1645920"/>
            <a:ext cx="5212080" cy="438912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8288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CHALLENGE QUESTION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21488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Which molecular payload must be delivered to hematopoietic stem cells to achieve permanent therapeutic correction?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92240" y="2880360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288036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1. Cas9 RNP only (relies on NHEJ)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92240" y="3474720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347472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F3D0"/>
                </a:solidFill>
              </a:rPr>
              <a:t>2. Cas9 RNP + synthetic single-stranded DNA donor template (HDR)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92240" y="4069080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406908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3. Purified guide RNA alone without Cas9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92240" y="4663440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466344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4. Cas9 nickase without any donor template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92240" y="5349240"/>
            <a:ext cx="4663440" cy="594360"/>
          </a:xfrm>
          <a:prstGeom prst="roundRect">
            <a:avLst>
              <a:gd name="adj" fmla="val 12308"/>
            </a:avLst>
          </a:prstGeom>
          <a:solidFill>
            <a:srgbClr val="032B2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5376672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7F3D0"/>
                </a:solidFill>
              </a:rPr>
              <a:t>EXPECTED REASONING: Homology-Directed Repair (HDR) uses the donor template as a blueprint to overwrite the mutation cleanly without destroying the reading frame.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Controlled Pedagogical Test — CRISPR-Cas9</dc:subject>
  <dc:creator>iSCARB Faculty AI Co-Pilot</dc:creator>
  <cp:lastModifiedBy>iSCARB Faculty AI Co-Pilot</cp:lastModifiedBy>
  <cp:revision>1</cp:revision>
  <dcterms:created xsi:type="dcterms:W3CDTF">2026-08-15T18:22:48Z</dcterms:created>
  <dcterms:modified xsi:type="dcterms:W3CDTF">2026-08-15T18:22:48Z</dcterms:modified>
</cp:coreProperties>
</file>